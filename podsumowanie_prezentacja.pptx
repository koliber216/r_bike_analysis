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2" r:id="rId6"/>
    <p:sldId id="283" r:id="rId7"/>
    <p:sldId id="262" r:id="rId8"/>
    <p:sldId id="265" r:id="rId9"/>
    <p:sldId id="267" r:id="rId10"/>
    <p:sldId id="284" r:id="rId11"/>
    <p:sldId id="261" r:id="rId12"/>
    <p:sldId id="285" r:id="rId13"/>
    <p:sldId id="286" r:id="rId14"/>
    <p:sldId id="264" r:id="rId15"/>
    <p:sldId id="287" r:id="rId16"/>
    <p:sldId id="288" r:id="rId17"/>
    <p:sldId id="289" r:id="rId18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F71D3-A315-8515-243A-9F0D27033D16}" v="105" dt="2022-05-30T08:02:47.294"/>
    <p1510:client id="{3FBC2F88-959D-DF45-16BE-E74B02FB28C2}" v="18" dt="2022-06-22T12:27:14.485"/>
    <p1510:client id="{4DF3D425-46E4-9F8B-CCD7-CA688310D7A6}" v="61" dt="2022-05-29T20:30:01.596"/>
    <p1510:client id="{5D7CBB76-1161-50E5-75A1-43EBC3E5C09D}" v="1168" dt="2022-05-29T18:20:57.876"/>
    <p1510:client id="{7CF2C4F6-FB37-79FB-0400-C3B16995A40C}" v="13" dt="2022-05-30T10:18:15.652"/>
    <p1510:client id="{B7E0D305-AAB1-BE55-418D-CAFF20895AB0}" v="2" dt="2022-05-30T09:00:25.811"/>
    <p1510:client id="{CBA4E5B1-17CD-75E1-4D3A-EEA29D6209B6}" v="1058" dt="2022-05-29T21:45:10.362"/>
    <p1510:client id="{DC31E5D8-CED6-4ADA-9D1F-BFD62EEC4489}" v="4" dt="2022-05-29T17:32:10.831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6F0EFAB-5BF0-42EA-9164-41F37624A539}" type="datetime1">
              <a:rPr lang="pl-PL" smtClean="0"/>
              <a:t>22.06.2022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00C303-0EDA-42E1-9745-6C6A39A7B5C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803C7D9-C9B4-4141-A533-55C67045957D}" type="datetime1">
              <a:rPr lang="pl-PL" noProof="0" smtClean="0"/>
              <a:t>22.06.2022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FC40A10-6036-4879-816D-55C01FC94846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1174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128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9661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561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8260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8958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4520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9277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311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8323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9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9193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2534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FC40A10-6036-4879-816D-55C01FC94846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7962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 z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raz — symbol zastępczy 11">
            <a:extLst>
              <a:ext uri="{FF2B5EF4-FFF2-40B4-BE49-F238E27FC236}">
                <a16:creationId xmlns:a16="http://schemas.microsoft.com/office/drawing/2014/main" id="{A3E28D41-6B7A-4CAB-9A39-D6B245E5A8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4416425"/>
          </a:xfrm>
        </p:spPr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chemeClr val="accent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w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  <p:grpSp>
        <p:nvGrpSpPr>
          <p:cNvPr id="16" name="Grupa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w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w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 z obraz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raz — symbol zastępczy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57938"/>
            <a:ext cx="4968576" cy="2078827"/>
          </a:xfrm>
        </p:spPr>
        <p:txBody>
          <a:bodyPr lIns="0" tIns="0" rIns="0" bIns="0" rtlCol="0" anchor="b" anchorCtr="0">
            <a:noAutofit/>
          </a:bodyPr>
          <a:lstStyle>
            <a:lvl1pPr>
              <a:defRPr sz="5000"/>
            </a:lvl1pPr>
          </a:lstStyle>
          <a:p>
            <a:pPr rtl="0"/>
            <a:r>
              <a:rPr lang="pl-PL" noProof="0"/>
              <a:t>PREZENTACJA</a:t>
            </a:r>
            <a:br>
              <a:rPr lang="pl-PL" noProof="0"/>
            </a:br>
            <a:r>
              <a:rPr lang="pl-PL" noProof="0"/>
              <a:t>OFERTOWA</a:t>
            </a:r>
            <a:br>
              <a:rPr lang="pl-PL" noProof="0"/>
            </a:br>
            <a:r>
              <a:rPr lang="pl-PL" noProof="0"/>
              <a:t>TYTUŁ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2004689"/>
            <a:ext cx="4678554" cy="102440"/>
            <a:chOff x="3631690" y="2252140"/>
            <a:chExt cx="8149377" cy="102440"/>
          </a:xfrm>
        </p:grpSpPr>
        <p:sp>
          <p:nvSpPr>
            <p:cNvPr id="10" name="Ow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3" y="2307679"/>
              <a:ext cx="8089198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11605488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  <p:grpSp>
        <p:nvGrpSpPr>
          <p:cNvPr id="13" name="Grupa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264789"/>
            <a:ext cx="4678563" cy="100584"/>
            <a:chOff x="3631690" y="2253996"/>
            <a:chExt cx="8149395" cy="100584"/>
          </a:xfrm>
        </p:grpSpPr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808919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w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11605506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Podtytuł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500149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18" name="Obraz — symbol zastępczy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 z obraz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6" name="Tekst — symbol zastępczy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braz — symbol zastępczy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Tytuł, obraz i element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2" name="Obraz — symbol zastępczy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Tytuł i element zawartości wersj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4401966" cy="100800"/>
            <a:chOff x="0" y="3240138"/>
            <a:chExt cx="4401966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290538"/>
              <a:ext cx="432745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430116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raz — symbol zastępczy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2" name="Tekst — symbol zastępczy 2">
            <a:extLst>
              <a:ext uri="{FF2B5EF4-FFF2-40B4-BE49-F238E27FC236}">
                <a16:creationId xmlns:a16="http://schemas.microsoft.com/office/drawing/2014/main" id="{D25C4036-2954-4AB4-BF92-443DCB98170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77216" y="3392351"/>
            <a:ext cx="5009495" cy="221017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Ik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4" name="Obraz — symbol zastępczy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2" name="Tekst — symbol zastępczy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tekstu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4" name="Obraz — symbol zastępczy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tekstu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7" name="Obraz — symbol zastępczy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0" name="Obraz — symbol zastępczy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1" name="Tekst — symbol zastępczy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Monitor i element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200484" cy="100800"/>
            <a:chOff x="0" y="3240138"/>
            <a:chExt cx="3200484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290538"/>
              <a:ext cx="315787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099684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6" name="Tekst — symbol zastępczy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Tytuł i pod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raz — symbol zastępczy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a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4890476" y="1373283"/>
            <a:ext cx="2347252" cy="100800"/>
            <a:chOff x="2915558" y="1373283"/>
            <a:chExt cx="2347252" cy="100800"/>
          </a:xfrm>
        </p:grpSpPr>
        <p:grpSp>
          <p:nvGrpSpPr>
            <p:cNvPr id="15" name="Grupa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2950733" y="1373283"/>
              <a:ext cx="2312077" cy="100800"/>
              <a:chOff x="-198745" y="3237441"/>
              <a:chExt cx="2312077" cy="100800"/>
            </a:xfrm>
          </p:grpSpPr>
          <p:cxnSp>
            <p:nvCxnSpPr>
              <p:cNvPr id="13" name="Łącznik prosty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-198745" y="3290538"/>
                <a:ext cx="229029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wal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2012532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pl-PL" noProof="0"/>
              </a:p>
            </p:txBody>
          </p:sp>
        </p:grp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291555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Trzy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98786" y="1375202"/>
            <a:ext cx="5693214" cy="100800"/>
            <a:chOff x="304632" y="3240138"/>
            <a:chExt cx="3554645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353616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93553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2" name="Tekst — symbol zastępczy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1</a:t>
            </a:r>
          </a:p>
        </p:txBody>
      </p:sp>
      <p:sp>
        <p:nvSpPr>
          <p:cNvPr id="34" name="Tekst — symbol zastępczy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</a:t>
            </a:r>
          </a:p>
        </p:txBody>
      </p:sp>
      <p:sp>
        <p:nvSpPr>
          <p:cNvPr id="36" name="Tekst — symbol zastępczy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7" name="Tekst — symbol zastępczy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8" name="Tekst — symbol zastępczy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3</a:t>
            </a:r>
          </a:p>
        </p:txBody>
      </p:sp>
      <p:sp>
        <p:nvSpPr>
          <p:cNvPr id="39" name="Tekst — symbol zastępczy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licz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6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12 345 zł</a:t>
            </a:r>
          </a:p>
        </p:txBody>
      </p:sp>
      <p:sp>
        <p:nvSpPr>
          <p:cNvPr id="34" name="Tekst — symbol zastępczy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6" name="Tekst — symbol zastępczy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6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6 789 zł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z okręg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4583055" cy="100800"/>
            <a:chOff x="-1228304" y="3240138"/>
            <a:chExt cx="4583055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456136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25395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6" name="Tekst — symbol zastępczy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wal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21" name="Owal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22" name="Owal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27" name="Tekst — symbol zastępczy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5417" y="1382322"/>
            <a:ext cx="2034121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 rtl="0">
              <a:buNone/>
              <a:defRPr sz="55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25 zł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Sekcja 1</a:t>
            </a:r>
            <a:br>
              <a:rPr lang="pl-PL" noProof="0"/>
            </a:br>
            <a:r>
              <a:rPr lang="pl-PL" noProof="0"/>
              <a:t>Stanowisko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MILIARDÓW</a:t>
            </a:r>
          </a:p>
        </p:txBody>
      </p:sp>
      <p:sp>
        <p:nvSpPr>
          <p:cNvPr id="30" name="Tekst — symbol zastępczy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36981" y="1767897"/>
            <a:ext cx="2034121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 rtl="0">
              <a:buNone/>
              <a:defRPr sz="55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50 zł</a:t>
            </a:r>
          </a:p>
        </p:txBody>
      </p:sp>
      <p:sp>
        <p:nvSpPr>
          <p:cNvPr id="31" name="Tekst — symbol zastępczy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Sekcja 1</a:t>
            </a:r>
            <a:br>
              <a:rPr lang="pl-PL" noProof="0"/>
            </a:br>
            <a:r>
              <a:rPr lang="pl-PL" noProof="0"/>
              <a:t>Stanowisko</a:t>
            </a:r>
          </a:p>
        </p:txBody>
      </p:sp>
      <p:sp>
        <p:nvSpPr>
          <p:cNvPr id="32" name="Tekst — symbol zastępczy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MILIARDÓW ZŁ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03350" y="2049128"/>
            <a:ext cx="2432608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 rtl="0">
              <a:buNone/>
              <a:defRPr sz="55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100 zł</a:t>
            </a:r>
          </a:p>
        </p:txBody>
      </p:sp>
      <p:sp>
        <p:nvSpPr>
          <p:cNvPr id="34" name="Tekst — symbol zastępczy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Sekcja 1</a:t>
            </a:r>
            <a:br>
              <a:rPr lang="pl-PL" noProof="0"/>
            </a:br>
            <a:r>
              <a:rPr lang="pl-PL" noProof="0"/>
              <a:t>Stanowisko</a:t>
            </a:r>
          </a:p>
        </p:txBody>
      </p:sp>
      <p:sp>
        <p:nvSpPr>
          <p:cNvPr id="35" name="Tekst — symbol zastępczy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MILIARDÓW ZŁ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 z podtytuł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4" name="Tekst — symbol zastępczy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6" name="Tekst — symbol zastępczy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wykre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4243"/>
            <a:ext cx="4542336" cy="100800"/>
            <a:chOff x="646012" y="3239179"/>
            <a:chExt cx="2315690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229499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910314" y="3239179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1" name="Obraz — symbol zastępczy 11" descr="Kwadrant ze znakami logo konkurencji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Konkurent 2</a:t>
            </a:r>
          </a:p>
          <a:p>
            <a:pPr rtl="0"/>
            <a:r>
              <a:rPr lang="pl-PL" noProof="0"/>
              <a:t>Logo</a:t>
            </a:r>
          </a:p>
        </p:txBody>
      </p:sp>
      <p:sp>
        <p:nvSpPr>
          <p:cNvPr id="22" name="Obraz — symbol zastępczy 11" descr="Kwadrant ze znakami logo konkurencji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Konkurent 1</a:t>
            </a:r>
          </a:p>
          <a:p>
            <a:pPr rtl="0"/>
            <a:r>
              <a:rPr lang="pl-PL" noProof="0"/>
              <a:t>Logo</a:t>
            </a:r>
          </a:p>
        </p:txBody>
      </p:sp>
      <p:sp>
        <p:nvSpPr>
          <p:cNvPr id="25" name="Obraz — symbol zastępczy 11" descr="Kwadrant ze znakami logo konkurencji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Konkurent 3</a:t>
            </a:r>
          </a:p>
          <a:p>
            <a:pPr rtl="0"/>
            <a:r>
              <a:rPr lang="pl-PL" noProof="0"/>
              <a:t>Logo</a:t>
            </a:r>
          </a:p>
        </p:txBody>
      </p:sp>
      <p:sp>
        <p:nvSpPr>
          <p:cNvPr id="26" name="Obraz — symbol zastępczy 11" descr="Kwadrant ze znakami logo konkurencji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Konkurent 4</a:t>
            </a:r>
          </a:p>
          <a:p>
            <a:pPr rtl="0"/>
            <a:r>
              <a:rPr lang="pl-PL" noProof="0"/>
              <a:t>Logo</a:t>
            </a:r>
          </a:p>
        </p:txBody>
      </p:sp>
      <p:sp>
        <p:nvSpPr>
          <p:cNvPr id="27" name="Obraz — symbol zastępczy 11" descr="Kwadrant ze znakami logo konkurencji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Konkurent 5</a:t>
            </a:r>
          </a:p>
          <a:p>
            <a:pPr rtl="0"/>
            <a:r>
              <a:rPr lang="pl-PL" noProof="0"/>
              <a:t>Logo</a:t>
            </a:r>
          </a:p>
        </p:txBody>
      </p:sp>
      <p:sp>
        <p:nvSpPr>
          <p:cNvPr id="28" name="Obraz — symbol zastępczy 11" descr="Kwadrant ze znakami logo konkurencji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Konkurent 6</a:t>
            </a:r>
          </a:p>
          <a:p>
            <a:pPr rtl="0"/>
            <a:r>
              <a:rPr lang="pl-PL" noProof="0"/>
              <a:t>Logo</a:t>
            </a:r>
          </a:p>
        </p:txBody>
      </p:sp>
      <p:sp>
        <p:nvSpPr>
          <p:cNvPr id="29" name="Tekst — symbol zastępczy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pl-PL" noProof="0"/>
              <a:t>Bardziej kosztowne</a:t>
            </a:r>
          </a:p>
        </p:txBody>
      </p:sp>
      <p:sp>
        <p:nvSpPr>
          <p:cNvPr id="30" name="Tekst — symbol zastępczy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pl-PL" noProof="0"/>
              <a:t>Mniej wygodne</a:t>
            </a:r>
          </a:p>
        </p:txBody>
      </p:sp>
      <p:sp>
        <p:nvSpPr>
          <p:cNvPr id="31" name="Tekst — symbol zastępczy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pl-PL" noProof="0"/>
              <a:t>Bardziej wygodne</a:t>
            </a:r>
          </a:p>
        </p:txBody>
      </p:sp>
      <p:sp>
        <p:nvSpPr>
          <p:cNvPr id="32" name="Obraz — symbol zastępczy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3" name="Tekst — symbol zastępczy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pl-PL" noProof="0"/>
              <a:t>Mniej kosztowne</a:t>
            </a:r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Łącznik prosty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wal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grpSp>
        <p:nvGrpSpPr>
          <p:cNvPr id="37" name="Grupa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Łącznik prosty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wal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Trzy sekc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562747" cy="100800"/>
            <a:chOff x="0" y="3240138"/>
            <a:chExt cx="3562747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290538"/>
              <a:ext cx="348747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46194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 — symbol zastępczy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1</a:t>
            </a:r>
          </a:p>
        </p:txBody>
      </p:sp>
      <p:sp>
        <p:nvSpPr>
          <p:cNvPr id="22" name="Tekst — symbol zastępczy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3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Łącznik prosty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Łącznik prosty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0" name="Tekst — symbol zastępczy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1" name="Tekst — symbol zastępczy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43" name="Tekst — symbol zastępczy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4" name="Tekst — symbol zastępczy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5" name="Tekst — symbol zastępczy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46" name="Tekst — symbol zastępczy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7" name="Tekst — symbol zastępczy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8" name="Tekst — symbol zastępczy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Tabela i wyk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6" name="Tekst — symbol zastępczy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2" name="Zawartość — symbol zastępczy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Har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l-PL" noProof="0"/>
              <a:t>HARMONOGRAM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090522" y="1375202"/>
            <a:ext cx="3101479" cy="100800"/>
            <a:chOff x="2729179" y="3240138"/>
            <a:chExt cx="1581131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9179" y="3290538"/>
              <a:ext cx="155192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58922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20XX</a:t>
            </a:r>
          </a:p>
        </p:txBody>
      </p:sp>
      <p:sp>
        <p:nvSpPr>
          <p:cNvPr id="34" name="Tekst — symbol zastępczy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6" name="Tekst — symbol zastępczy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wal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29" name="Owal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30" name="Owal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31" name="Owal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32" name="Tekst — symbol zastępczy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3" name="Tekst — symbol zastępczy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5" name="Tekst — symbol zastępczy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7" name="Tekst — symbol zastępczy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8" name="Tekst — symbol zastępczy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9" name="Tekst — symbol zastępczy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0" name="Tekst — symbol zastępczy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20XX</a:t>
            </a:r>
          </a:p>
        </p:txBody>
      </p:sp>
      <p:sp>
        <p:nvSpPr>
          <p:cNvPr id="41" name="Tekst — symbol zastępczy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20XX</a:t>
            </a:r>
          </a:p>
        </p:txBody>
      </p:sp>
      <p:sp>
        <p:nvSpPr>
          <p:cNvPr id="42" name="Tekst — symbol zastępczy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pl-PL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tabe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3764756" cy="100800"/>
            <a:chOff x="-1228304" y="3240138"/>
            <a:chExt cx="3764756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672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35652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abela — symbol zastępczy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pl-PL" noProof="0"/>
              <a:t>Kliknij ikonę, aby dodać tabelę</a:t>
            </a:r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736519" cy="100800"/>
            <a:chOff x="0" y="3240138"/>
            <a:chExt cx="2736519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290538"/>
              <a:ext cx="272193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635719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0" name="Tekst — symbol zastępczy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1" name="Tekst — symbol zastępczy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5" name="Obraz — symbol zastępczy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6" name="Obraz — symbol zastępczy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7" name="Tekst — symbol zastępczy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8" name="Tekst — symbol zastępczy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9" name="Tekst — symbol zastępczy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41" name="Tekst — symbol zastępczy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2" name="Tekst — symbol zastępczy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9" name="Tekst — symbol zastępczy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cxnSp>
        <p:nvCxnSpPr>
          <p:cNvPr id="32" name="Łącznik prosty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układu zawartości 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5917347" y="1375202"/>
            <a:ext cx="6274653" cy="100800"/>
            <a:chOff x="439494" y="3240138"/>
            <a:chExt cx="3917677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4" y="3290538"/>
              <a:ext cx="389464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91447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2" name="Tekst — symbol zastępczy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kst — symbol zastępczy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1" name="Tekst — symbol zastępczy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42" name="Obraz — symbol zastępczy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cxnSp>
        <p:nvCxnSpPr>
          <p:cNvPr id="43" name="Łącznik prosty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kst — symbol zastępczy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5" name="Tekst — symbol zastępczy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47" name="Tekst — symbol zastępczy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8" name="Tekst — symbol zastępczy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50" name="Tekst — symbol zastępczy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1" name="Tekst — symbol zastępczy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sp>
        <p:nvSpPr>
          <p:cNvPr id="53" name="Tekst — symbol zastępczy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tekst wzorca</a:t>
            </a:r>
          </a:p>
        </p:txBody>
      </p:sp>
      <p:cxnSp>
        <p:nvCxnSpPr>
          <p:cNvPr id="56" name="Łącznik prosty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Łącznik prosty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braz — symbol zastępczy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5" name="Obraz — symbol zastępczy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6" name="Obraz — symbol zastępczy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2" name="Obraz — symbol zastępczy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wykresu kołowe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09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 — symbol zastępczy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1 500 000 zł</a:t>
            </a:r>
          </a:p>
        </p:txBody>
      </p:sp>
      <p:sp>
        <p:nvSpPr>
          <p:cNvPr id="37" name="Tekst — symbol zastępczy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Tytuł kategorii</a:t>
            </a:r>
          </a:p>
        </p:txBody>
      </p:sp>
      <p:sp>
        <p:nvSpPr>
          <p:cNvPr id="39" name="Tekst — symbol zastępczy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1 500 000 zł</a:t>
            </a:r>
          </a:p>
        </p:txBody>
      </p:sp>
      <p:sp>
        <p:nvSpPr>
          <p:cNvPr id="40" name="Tekst — symbol zastępczy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Tytuł kategorii</a:t>
            </a:r>
          </a:p>
        </p:txBody>
      </p:sp>
      <p:sp>
        <p:nvSpPr>
          <p:cNvPr id="42" name="Tekst — symbol zastępczy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1 500 000 zł</a:t>
            </a:r>
          </a:p>
        </p:txBody>
      </p:sp>
      <p:sp>
        <p:nvSpPr>
          <p:cNvPr id="43" name="Tekst — symbol zastępczy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Tytuł kategorii</a:t>
            </a:r>
          </a:p>
        </p:txBody>
      </p:sp>
      <p:sp>
        <p:nvSpPr>
          <p:cNvPr id="45" name="Tekst — symbol zastępczy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1 500 000 zł</a:t>
            </a:r>
          </a:p>
        </p:txBody>
      </p:sp>
      <p:sp>
        <p:nvSpPr>
          <p:cNvPr id="46" name="Tekst — symbol zastępczy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Tytuł kategorii</a:t>
            </a:r>
          </a:p>
        </p:txBody>
      </p:sp>
      <p:sp>
        <p:nvSpPr>
          <p:cNvPr id="48" name="Tekst — symbol zastępczy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1 500 000 zł</a:t>
            </a:r>
          </a:p>
        </p:txBody>
      </p:sp>
      <p:sp>
        <p:nvSpPr>
          <p:cNvPr id="49" name="Tekst — symbol zastępczy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Tytuł kategorii</a:t>
            </a:r>
          </a:p>
        </p:txBody>
      </p:sp>
      <p:sp>
        <p:nvSpPr>
          <p:cNvPr id="51" name="Tekst — symbol zastępczy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1 500 000 zł</a:t>
            </a:r>
          </a:p>
        </p:txBody>
      </p:sp>
      <p:sp>
        <p:nvSpPr>
          <p:cNvPr id="52" name="Tekst — symbol zastępczy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Tytuł kategorii</a:t>
            </a:r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54" name="Owal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55" name="Owal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56" name="Owal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57" name="Owal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58" name="Owal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12" name="Wykres — symbol zastępczy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wykres</a:t>
            </a:r>
          </a:p>
        </p:txBody>
      </p:sp>
      <p:sp>
        <p:nvSpPr>
          <p:cNvPr id="35" name="Owal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38" name="Owal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cxnSp>
        <p:nvCxnSpPr>
          <p:cNvPr id="41" name="Łącznik prosty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Obraz i element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KLIKNIJ, ABY EDYTOWAĆ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2" name="Obraz — symbol zastępczy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Podziękow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1" name="Tytuł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rtlCol="0" anchor="b" anchorCtr="0">
            <a:noAutofit/>
          </a:bodyPr>
          <a:lstStyle>
            <a:lvl1pPr>
              <a:defRPr sz="5300"/>
            </a:lvl1pPr>
          </a:lstStyle>
          <a:p>
            <a:pPr rtl="0"/>
            <a:r>
              <a:rPr lang="pl-PL" noProof="0"/>
              <a:t>DZIĘKUJEMY!</a:t>
            </a:r>
          </a:p>
        </p:txBody>
      </p:sp>
      <p:sp>
        <p:nvSpPr>
          <p:cNvPr id="22" name="Tekst — symbol zastępczy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rtlCol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pl-PL" noProof="0"/>
              <a:t>Artur Wieczorek</a:t>
            </a:r>
          </a:p>
        </p:txBody>
      </p:sp>
      <p:sp>
        <p:nvSpPr>
          <p:cNvPr id="23" name="Tekst — symbol zastępczy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pl-PL" noProof="0"/>
              <a:t>Telefon:</a:t>
            </a:r>
          </a:p>
        </p:txBody>
      </p:sp>
      <p:sp>
        <p:nvSpPr>
          <p:cNvPr id="24" name="Tekst — symbol zastępczy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pl-PL" noProof="0"/>
              <a:t>+7 888 999-000-11</a:t>
            </a:r>
          </a:p>
        </p:txBody>
      </p:sp>
      <p:sp>
        <p:nvSpPr>
          <p:cNvPr id="25" name="Tekst — symbol zastępczy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pl-PL" noProof="0"/>
              <a:t>Adres e-mail:</a:t>
            </a:r>
          </a:p>
        </p:txBody>
      </p:sp>
      <p:sp>
        <p:nvSpPr>
          <p:cNvPr id="26" name="Tekst — symbol zastępczy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pl-PL" noProof="0"/>
              <a:t>Wieczorek@vanarsdelltd.com</a:t>
            </a:r>
          </a:p>
        </p:txBody>
      </p:sp>
      <p:sp>
        <p:nvSpPr>
          <p:cNvPr id="27" name="Tekst — symbol zastępczy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Witryna internetowa:</a:t>
            </a:r>
          </a:p>
        </p:txBody>
      </p:sp>
      <p:sp>
        <p:nvSpPr>
          <p:cNvPr id="28" name="Tekst — symbol zastępczy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pl-PL" noProof="0"/>
              <a:t>www.vanarsdelltd.com</a:t>
            </a:r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3" y="2750589"/>
            <a:ext cx="4569895" cy="100800"/>
            <a:chOff x="808548" y="2750589"/>
            <a:chExt cx="4569895" cy="100800"/>
          </a:xfrm>
        </p:grpSpPr>
        <p:grpSp>
          <p:nvGrpSpPr>
            <p:cNvPr id="11" name="Grupa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12" name="Łącznik prosty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496859" y="3285674"/>
                <a:ext cx="28871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w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pl-PL" noProof="0"/>
              </a:p>
            </p:txBody>
          </p:sp>
        </p:grpSp>
        <p:sp>
          <p:nvSpPr>
            <p:cNvPr id="29" name="Owal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277642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grpSp>
        <p:nvGrpSpPr>
          <p:cNvPr id="32" name="Grupa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3" y="1660573"/>
            <a:ext cx="4575417" cy="105664"/>
            <a:chOff x="808548" y="2745725"/>
            <a:chExt cx="4575417" cy="105664"/>
          </a:xfrm>
        </p:grpSpPr>
        <p:grpSp>
          <p:nvGrpSpPr>
            <p:cNvPr id="33" name="Grupa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35" name="Łącznik prosty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496859" y="3285674"/>
                <a:ext cx="28871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wal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pl-PL" noProof="0"/>
              </a:p>
            </p:txBody>
          </p:sp>
        </p:grpSp>
        <p:sp>
          <p:nvSpPr>
            <p:cNvPr id="34" name="Owal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283164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Dodat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pl-PL" noProof="0"/>
              <a:t>DODATEK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4736152" y="1509426"/>
            <a:ext cx="2719696" cy="100800"/>
            <a:chOff x="4732222" y="1509426"/>
            <a:chExt cx="2719696" cy="100800"/>
          </a:xfrm>
        </p:grpSpPr>
        <p:grpSp>
          <p:nvGrpSpPr>
            <p:cNvPr id="11" name="Grupa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4732222" y="1509426"/>
              <a:ext cx="2669296" cy="100800"/>
              <a:chOff x="1693969" y="3240138"/>
              <a:chExt cx="1740431" cy="100800"/>
            </a:xfrm>
          </p:grpSpPr>
          <p:cxnSp>
            <p:nvCxnSpPr>
              <p:cNvPr id="12" name="Łącznik prosty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1693969" y="3290538"/>
                <a:ext cx="169003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w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pl-PL" noProof="0"/>
              </a:p>
            </p:txBody>
          </p:sp>
        </p:grp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7351117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Rekomendac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l-PL" noProof="0"/>
              <a:t>REKOMENDACJE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581895" y="1375202"/>
            <a:ext cx="4610107" cy="100800"/>
            <a:chOff x="675502" y="3240138"/>
            <a:chExt cx="2878394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502" y="3290538"/>
              <a:ext cx="285934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488172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40" name="Tekst — symbol zastępczy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Stanowisko klienta</a:t>
            </a:r>
          </a:p>
        </p:txBody>
      </p:sp>
      <p:sp>
        <p:nvSpPr>
          <p:cNvPr id="41" name="Tekst — symbol zastępczy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Edytowanie wzorca</a:t>
            </a:r>
            <a:br>
              <a:rPr lang="pl-PL" noProof="0"/>
            </a:br>
            <a:r>
              <a:rPr lang="pl-PL" noProof="0"/>
              <a:t>tekst</a:t>
            </a:r>
          </a:p>
        </p:txBody>
      </p:sp>
      <p:sp>
        <p:nvSpPr>
          <p:cNvPr id="42" name="Obraz — symbol zastępczy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cxnSp>
        <p:nvCxnSpPr>
          <p:cNvPr id="43" name="Łącznik prosty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 rtl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24" name="Owal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58" name="Tekst — symbol zastępczy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Stanowisko klienta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Edytowanie wzorca</a:t>
            </a:r>
            <a:br>
              <a:rPr lang="pl-PL" noProof="0"/>
            </a:br>
            <a:r>
              <a:rPr lang="pl-PL" noProof="0"/>
              <a:t>tekst</a:t>
            </a:r>
          </a:p>
        </p:txBody>
      </p:sp>
      <p:sp>
        <p:nvSpPr>
          <p:cNvPr id="60" name="Obraz — symbol zastępczy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cxnSp>
        <p:nvCxnSpPr>
          <p:cNvPr id="61" name="Łącznik prosty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kst — symbol zastępczy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3" name="Owal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Stanowisko klienta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Edytowanie wzorca</a:t>
            </a:r>
            <a:br>
              <a:rPr lang="pl-PL" noProof="0"/>
            </a:br>
            <a:r>
              <a:rPr lang="pl-PL" noProof="0"/>
              <a:t>tekst</a:t>
            </a:r>
          </a:p>
        </p:txBody>
      </p:sp>
      <p:sp>
        <p:nvSpPr>
          <p:cNvPr id="66" name="Obraz — symbol zastępczy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cxnSp>
        <p:nvCxnSpPr>
          <p:cNvPr id="67" name="Łącznik prosty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kst — symbol zastępczy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69" name="Owal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zawartości Analiza przypadk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l-PL" noProof="0"/>
              <a:t>ANALIZA PRZYPADKU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3866400" cy="100800"/>
            <a:chOff x="-1228304" y="3240138"/>
            <a:chExt cx="3866400" cy="100800"/>
          </a:xfrm>
        </p:grpSpPr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81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372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Ow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w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kst — symbol zastępczy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8" name="Tekst — symbol zastępczy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Telefon komórkowy i element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10" name="Obraz — symbol zastępczy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w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w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21" name="Obraz — symbol zastępczy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2" name="Obraz — symbol zastępczy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ęcz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rostokąt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1" name="Tekst — symbol zastępczy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22" name="Tekst — symbol zastępczy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Wzorzec tekstu</a:t>
            </a:r>
            <a:br>
              <a:rPr lang="pl-PL" noProof="0"/>
            </a:br>
            <a:r>
              <a:rPr lang="pl-PL" noProof="0"/>
              <a:t>style</a:t>
            </a:r>
          </a:p>
        </p:txBody>
      </p:sp>
      <p:sp>
        <p:nvSpPr>
          <p:cNvPr id="23" name="Tekst — symbol zastępczy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24" name="Obraz — symbol zastępczy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Obraz — symbol zastępczy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6" name="Tekst — symbol zastępczy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27" name="Tekst — symbol zastępczy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Wzorzec tekstu</a:t>
            </a:r>
            <a:br>
              <a:rPr lang="pl-PL" noProof="0"/>
            </a:br>
            <a:r>
              <a:rPr lang="pl-PL" noProof="0"/>
              <a:t>style</a:t>
            </a:r>
          </a:p>
        </p:txBody>
      </p:sp>
      <p:sp>
        <p:nvSpPr>
          <p:cNvPr id="28" name="Obraz — symbol zastępczy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9" name="Tekst — symbol zastępczy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30" name="Tekst — symbol zastępczy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Wzorzec tekstu</a:t>
            </a:r>
            <a:br>
              <a:rPr lang="pl-PL" noProof="0"/>
            </a:br>
            <a:r>
              <a:rPr lang="pl-PL" noProof="0"/>
              <a:t>style</a:t>
            </a:r>
          </a:p>
        </p:txBody>
      </p:sp>
      <p:sp>
        <p:nvSpPr>
          <p:cNvPr id="32" name="Tekst — symbol zastępczy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33" name="Tekst — symbol zastępczy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pl-PL" noProof="0"/>
              <a:t>1</a:t>
            </a:r>
          </a:p>
        </p:txBody>
      </p:sp>
      <p:sp>
        <p:nvSpPr>
          <p:cNvPr id="36" name="Tekst — symbol zastępczy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1</a:t>
            </a:r>
          </a:p>
        </p:txBody>
      </p:sp>
      <p:sp>
        <p:nvSpPr>
          <p:cNvPr id="37" name="Tekst — symbol zastępczy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1</a:t>
            </a:r>
          </a:p>
        </p:txBody>
      </p:sp>
      <p:sp>
        <p:nvSpPr>
          <p:cNvPr id="40" name="Tekst — symbol zastępczy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rtlCol="0" anchor="t" anchorCtr="0">
            <a:normAutofit/>
          </a:bodyPr>
          <a:lstStyle>
            <a:lvl1pPr marL="0" indent="0" algn="r" rtl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8" name="Tytuł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rtlCol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JAK UŻYWAĆ TEGO SZABLONU</a:t>
            </a:r>
          </a:p>
        </p:txBody>
      </p:sp>
      <p:sp>
        <p:nvSpPr>
          <p:cNvPr id="41" name="Obraz — symbol zastępczy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grpSp>
        <p:nvGrpSpPr>
          <p:cNvPr id="31" name="Grupa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Łącznik prosty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wal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grpSp>
        <p:nvGrpSpPr>
          <p:cNvPr id="15" name="Grupa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w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  <p:grpSp>
        <p:nvGrpSpPr>
          <p:cNvPr id="16" name="Grupa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w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w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pl-PL" noProof="0"/>
              <a:t>PREZENTACJA</a:t>
            </a:r>
            <a:br>
              <a:rPr lang="pl-PL" noProof="0"/>
            </a:br>
            <a:r>
              <a:rPr lang="pl-PL" noProof="0"/>
              <a:t>OFERTOWA</a:t>
            </a:r>
            <a:br>
              <a:rPr lang="pl-PL" noProof="0"/>
            </a:br>
            <a:r>
              <a:rPr lang="pl-PL" noProof="0"/>
              <a:t>TYTUŁ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t>‹#›</a:t>
            </a:fld>
            <a:endParaRPr lang="pl-PL" noProof="0"/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w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  <p:grpSp>
        <p:nvGrpSpPr>
          <p:cNvPr id="13" name="Grupa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w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l-PL" noProof="0"/>
            </a:p>
          </p:txBody>
        </p:sp>
      </p:grpSp>
      <p:sp>
        <p:nvSpPr>
          <p:cNvPr id="17" name="Podtytuł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6" name="Zawartość — symbol zastępczy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7" name="Zawartość — symbol zastępczy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8" name="Zawartość — symbol zastępczy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7" name="Tekst — symbol zastępczy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8" name="Zawartość — symbol zastępczy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9" name="Tekst — symbol zastępczy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0" name="Zawartość — symbol zastępczy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0" name="Zawartość — symbol zastępczy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1" name="Obraz — symbol zastępczy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FE102DC0-E499-4C34-9CD9-CDABF71081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819" y="2355057"/>
            <a:ext cx="9250363" cy="214788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854530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pl-PL" noProof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20XX.MM.DD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pl-PL" noProof="0"/>
              <a:t>20XX.MM.DD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8D581BC7-E183-40DB-AC97-C19EA4EB8894}" type="slidenum">
              <a:rPr lang="pl-PL" noProof="0" smtClean="0"/>
              <a:pPr rtl="0"/>
              <a:t>‹#›</a:t>
            </a:fld>
            <a:endParaRPr lang="pl-PL" noProof="0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wal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92" r:id="rId36"/>
    <p:sldLayoutId id="2147483689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az — symbol zastępczy 9">
            <a:extLst>
              <a:ext uri="{FF2B5EF4-FFF2-40B4-BE49-F238E27FC236}">
                <a16:creationId xmlns:a16="http://schemas.microsoft.com/office/drawing/2014/main" id="{02986F47-BD08-49E3-BC02-C7CE9EE24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36" b="36"/>
          <a:stretch>
            <a:fillRect/>
          </a:stretch>
        </p:blipFill>
        <p:spPr/>
      </p:pic>
      <p:sp>
        <p:nvSpPr>
          <p:cNvPr id="4" name="Tytuł 3">
            <a:extLst>
              <a:ext uri="{FF2B5EF4-FFF2-40B4-BE49-F238E27FC236}">
                <a16:creationId xmlns:a16="http://schemas.microsoft.com/office/drawing/2014/main" id="{54F6FF42-70E3-4A7F-B5D8-2928FCB7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395" y="2462986"/>
            <a:ext cx="9605210" cy="1786094"/>
          </a:xfrm>
        </p:spPr>
        <p:txBody>
          <a:bodyPr rtlCol="0">
            <a:normAutofit/>
          </a:bodyPr>
          <a:lstStyle/>
          <a:p>
            <a:r>
              <a:rPr lang="pl-PL" dirty="0"/>
              <a:t>Analiza użytkowania rowerów w Jersey City</a:t>
            </a:r>
            <a:endParaRPr lang="en-US" dirty="0"/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F40A11AA-C85D-4AF4-92B2-0F4E36F4E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pl-PL" dirty="0">
                <a:cs typeface="Segoe UI Semibold"/>
              </a:rPr>
              <a:t>Mateusz Kubita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0404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107" y="696584"/>
            <a:ext cx="6639760" cy="569086"/>
          </a:xfrm>
        </p:spPr>
        <p:txBody>
          <a:bodyPr rtlCol="0">
            <a:normAutofit/>
          </a:bodyPr>
          <a:lstStyle/>
          <a:p>
            <a:r>
              <a:rPr lang="pl-PL">
                <a:ea typeface="+mj-lt"/>
                <a:cs typeface="+mj-lt"/>
              </a:rPr>
              <a:t>PYTANIE BADAWCZE 1</a:t>
            </a:r>
            <a:endParaRPr lang="en-US"/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624" y="1983086"/>
            <a:ext cx="9506453" cy="56908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pl-PL" sz="2800">
                <a:cs typeface="Segoe UI Semibold"/>
              </a:rPr>
              <a:t>JAK DZIEŃ TYGODNIA WPŁYWA NA DŁUGOŚĆ WYPOŻYCZENIA ROWERU MIEJSKIEGO?</a:t>
            </a:r>
            <a:endParaRPr lang="en-US" sz="280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smtClean="0"/>
              <a:pPr rtl="0"/>
              <a:t>2</a:t>
            </a:fld>
            <a:endParaRPr lang="pl-PL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8F3174-1225-78CD-8CD8-E152A9DC3142}"/>
              </a:ext>
            </a:extLst>
          </p:cNvPr>
          <p:cNvSpPr txBox="1"/>
          <p:nvPr/>
        </p:nvSpPr>
        <p:spPr>
          <a:xfrm>
            <a:off x="2538663" y="3481137"/>
            <a:ext cx="4056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cs typeface="Segoe U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344FD-3238-9A43-1DD3-4DDEDEFC7270}"/>
              </a:ext>
            </a:extLst>
          </p:cNvPr>
          <p:cNvSpPr txBox="1"/>
          <p:nvPr/>
        </p:nvSpPr>
        <p:spPr>
          <a:xfrm>
            <a:off x="2538663" y="3060032"/>
            <a:ext cx="4588042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800" b="1">
                <a:solidFill>
                  <a:srgbClr val="FFFFFF"/>
                </a:solidFill>
                <a:latin typeface="Gill Sans MT"/>
                <a:ea typeface="+mn-lt"/>
                <a:cs typeface="+mn-lt"/>
              </a:rPr>
              <a:t>Przewidywany wynik analizy:</a:t>
            </a:r>
          </a:p>
          <a:p>
            <a:pPr marL="285750" indent="-285750">
              <a:buFont typeface="Arial"/>
              <a:buChar char="•"/>
            </a:pPr>
            <a:r>
              <a:rPr lang="pl-PL" sz="2400" b="1">
                <a:solidFill>
                  <a:srgbClr val="FFFFFF"/>
                </a:solidFill>
                <a:latin typeface="Gill Sans MT"/>
                <a:cs typeface="Segoe UI Light"/>
              </a:rPr>
              <a:t>Wzrost zainteresowania rowerami w weekend</a:t>
            </a:r>
          </a:p>
          <a:p>
            <a:endParaRPr lang="pl-PL" sz="2800" b="1">
              <a:solidFill>
                <a:srgbClr val="FFFFFF"/>
              </a:solidFill>
              <a:latin typeface="Gill Sans MT"/>
              <a:cs typeface="Segoe U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66495-5549-6560-6475-77D127D55F71}"/>
              </a:ext>
            </a:extLst>
          </p:cNvPr>
          <p:cNvSpPr txBox="1"/>
          <p:nvPr/>
        </p:nvSpPr>
        <p:spPr>
          <a:xfrm>
            <a:off x="2538663" y="363153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l-PL">
              <a:solidFill>
                <a:srgbClr val="999999"/>
              </a:solidFill>
              <a:cs typeface="Segoe UI Light"/>
            </a:endParaRPr>
          </a:p>
        </p:txBody>
      </p:sp>
      <p:pic>
        <p:nvPicPr>
          <p:cNvPr id="12" name="Graphic 12" descr="Upward trend with solid fill">
            <a:extLst>
              <a:ext uri="{FF2B5EF4-FFF2-40B4-BE49-F238E27FC236}">
                <a16:creationId xmlns:a16="http://schemas.microsoft.com/office/drawing/2014/main" id="{C6911E14-64B9-2B12-596A-12A89BBAC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565" y="2792508"/>
            <a:ext cx="2404781" cy="23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1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69" y="696584"/>
            <a:ext cx="5259667" cy="569086"/>
          </a:xfrm>
        </p:spPr>
        <p:txBody>
          <a:bodyPr rtlCol="0">
            <a:normAutofit/>
          </a:bodyPr>
          <a:lstStyle/>
          <a:p>
            <a:r>
              <a:rPr lang="pl-PL"/>
              <a:t>WYNIKI ANALIZY 1</a:t>
            </a:r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2" y="1642391"/>
            <a:ext cx="12191999" cy="3493008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918" y="1882823"/>
            <a:ext cx="3335684" cy="325699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l-PL" sz="2800">
                <a:ea typeface="+mn-lt"/>
                <a:cs typeface="+mn-lt"/>
              </a:rPr>
              <a:t>JAK DZIEŃ TYGODNIA WPŁYWA NA DŁUGOŚĆ WYPOŻYCZENIA ROWERU MIEJSKIEGO?</a:t>
            </a:r>
            <a:r>
              <a:rPr lang="en-GB" sz="2800" b="0">
                <a:ea typeface="+mn-lt"/>
                <a:cs typeface="+mn-lt"/>
              </a:rPr>
              <a:t> </a:t>
            </a:r>
            <a:endParaRPr lang="pl-PL" sz="2800" b="0">
              <a:ea typeface="+mn-lt"/>
              <a:cs typeface="+mn-lt"/>
            </a:endParaRPr>
          </a:p>
          <a:p>
            <a:endParaRPr lang="pl-PL" sz="2800">
              <a:cs typeface="Segoe UI Light"/>
            </a:endParaRP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smtClean="0"/>
              <a:pPr rtl="0"/>
              <a:t>3</a:t>
            </a:fld>
            <a:endParaRPr lang="pl-PL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F5B4D-9B68-4F70-4833-33620D745A46}"/>
              </a:ext>
            </a:extLst>
          </p:cNvPr>
          <p:cNvSpPr txBox="1"/>
          <p:nvPr/>
        </p:nvSpPr>
        <p:spPr>
          <a:xfrm>
            <a:off x="8947199" y="1646321"/>
            <a:ext cx="324901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solidFill>
                  <a:srgbClr val="999999"/>
                </a:solidFill>
              </a:rPr>
              <a:t>Po lewej wykres </a:t>
            </a:r>
            <a:r>
              <a:rPr lang="pl-PL" err="1">
                <a:solidFill>
                  <a:srgbClr val="999999"/>
                </a:solidFill>
              </a:rPr>
              <a:t>box</a:t>
            </a:r>
            <a:r>
              <a:rPr lang="pl-PL">
                <a:solidFill>
                  <a:srgbClr val="999999"/>
                </a:solidFill>
              </a:rPr>
              <a:t>-plot przedstawiający zależność między długością wypożyczenia roweru, a danym dniem tygodnia. Wykres sporządzono z wykorzystaniem zbioru danych z miesiąca styczeń 2017 roku w mieście Jersey City.</a:t>
            </a:r>
            <a:endParaRPr lang="pl-PL">
              <a:solidFill>
                <a:srgbClr val="999999"/>
              </a:solidFill>
              <a:cs typeface="Segoe UI Light"/>
            </a:endParaRPr>
          </a:p>
        </p:txBody>
      </p:sp>
      <p:pic>
        <p:nvPicPr>
          <p:cNvPr id="8" name="Picture 8" descr="Chart&#10;&#10;Description automatically generated">
            <a:extLst>
              <a:ext uri="{FF2B5EF4-FFF2-40B4-BE49-F238E27FC236}">
                <a16:creationId xmlns:a16="http://schemas.microsoft.com/office/drawing/2014/main" id="{79668013-759C-5554-A45A-659EC169F8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2" r="96"/>
          <a:stretch/>
        </p:blipFill>
        <p:spPr>
          <a:xfrm>
            <a:off x="3685961" y="1760688"/>
            <a:ext cx="5046745" cy="30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7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69" y="696584"/>
            <a:ext cx="5259667" cy="569086"/>
          </a:xfrm>
        </p:spPr>
        <p:txBody>
          <a:bodyPr rtlCol="0">
            <a:normAutofit/>
          </a:bodyPr>
          <a:lstStyle/>
          <a:p>
            <a:r>
              <a:rPr lang="pl-PL"/>
              <a:t>WYNIKI ANALIZY 1</a:t>
            </a:r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2" y="1642391"/>
            <a:ext cx="12191999" cy="3493008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9660" y="1882823"/>
            <a:ext cx="3215942" cy="325699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l-PL" sz="2800">
                <a:ea typeface="+mn-lt"/>
                <a:cs typeface="+mn-lt"/>
              </a:rPr>
              <a:t>JAK DZIEŃ TYGODNIA WPŁYWA NA DŁUGOŚĆ WYPOŻYCZENIA ROWERU MIEJSKIEGO?</a:t>
            </a:r>
            <a:r>
              <a:rPr lang="en-GB" sz="2800" b="0">
                <a:ea typeface="+mn-lt"/>
                <a:cs typeface="+mn-lt"/>
              </a:rPr>
              <a:t> </a:t>
            </a:r>
            <a:endParaRPr lang="pl-PL" sz="2800" b="0">
              <a:ea typeface="+mn-lt"/>
              <a:cs typeface="+mn-lt"/>
            </a:endParaRPr>
          </a:p>
          <a:p>
            <a:endParaRPr lang="pl-PL" sz="2800">
              <a:cs typeface="Segoe UI Light"/>
            </a:endParaRP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smtClean="0"/>
              <a:pPr rtl="0"/>
              <a:t>4</a:t>
            </a:fld>
            <a:endParaRPr lang="pl-PL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F5B4D-9B68-4F70-4833-33620D745A46}"/>
              </a:ext>
            </a:extLst>
          </p:cNvPr>
          <p:cNvSpPr txBox="1"/>
          <p:nvPr/>
        </p:nvSpPr>
        <p:spPr>
          <a:xfrm>
            <a:off x="9306427" y="1646321"/>
            <a:ext cx="287889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solidFill>
                  <a:srgbClr val="999999"/>
                </a:solidFill>
              </a:rPr>
              <a:t>Po lewej wykres słupkowy przedstawiający zależność między średnią arytmetyczną długości wypożyczenia roweru, a danym dniem tygodnia. Wykres sporządzono z wykorzystaniem zbiorów danych z następujących miesięcy: styczeń, kwiecień, lipiec, październik 2017 roku w mieście Jersey City.</a:t>
            </a:r>
            <a:endParaRPr lang="pl-PL">
              <a:solidFill>
                <a:srgbClr val="999999"/>
              </a:solidFill>
              <a:cs typeface="Segoe UI Light"/>
            </a:endParaRPr>
          </a:p>
        </p:txBody>
      </p:sp>
      <p:pic>
        <p:nvPicPr>
          <p:cNvPr id="12" name="Picture 12" descr="Chart, treemap chart&#10;&#10;Description automatically generated">
            <a:extLst>
              <a:ext uri="{FF2B5EF4-FFF2-40B4-BE49-F238E27FC236}">
                <a16:creationId xmlns:a16="http://schemas.microsoft.com/office/drawing/2014/main" id="{6AC9C79B-F1A4-CC32-2E66-D2D1D4255A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379" r="1027" b="285"/>
          <a:stretch/>
        </p:blipFill>
        <p:spPr>
          <a:xfrm>
            <a:off x="3767254" y="1714500"/>
            <a:ext cx="5373015" cy="325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1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4CB059-9E3B-4C24-8E61-717292C2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14" y="2091023"/>
            <a:ext cx="4745884" cy="804338"/>
          </a:xfrm>
        </p:spPr>
        <p:txBody>
          <a:bodyPr rtlCol="0">
            <a:normAutofit fontScale="90000"/>
          </a:bodyPr>
          <a:lstStyle/>
          <a:p>
            <a:r>
              <a:rPr lang="pl-PL"/>
              <a:t>WNIOSKI Z ANALIZY I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E66139D5-668D-4A3D-B6B6-F71EC385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5911" y="3244567"/>
            <a:ext cx="4444883" cy="2375253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pl-PL">
                <a:solidFill>
                  <a:srgbClr val="FFFFFF"/>
                </a:solidFill>
                <a:latin typeface="Gill Sans MT"/>
                <a:cs typeface="Segoe UI Semibold"/>
              </a:rPr>
              <a:t>Zgodnie z przewidywaniami wzrost zainteresowania rowerami w ciągu weekendu.</a:t>
            </a: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pl-PL">
                <a:solidFill>
                  <a:srgbClr val="FFFFFF"/>
                </a:solidFill>
                <a:latin typeface="Gill Sans MT"/>
                <a:cs typeface="Segoe UI Semibold"/>
              </a:rPr>
              <a:t>Średnia długość wypożyczenia roweru w sobotę to aż 18 minut, a w niedzielę 15 minut, gdzie dla środy jest to tylko 9 minut.</a:t>
            </a:r>
            <a:endParaRPr lang="pl-PL">
              <a:solidFill>
                <a:srgbClr val="FFFFFF"/>
              </a:solidFill>
              <a:latin typeface="Gill Sans MT"/>
            </a:endParaRP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pl-PL">
                <a:solidFill>
                  <a:srgbClr val="FFFFFF"/>
                </a:solidFill>
                <a:latin typeface="Gill Sans MT"/>
                <a:cs typeface="Segoe UI Semibold"/>
              </a:rPr>
              <a:t>Co ciekawe, wtorek był także dniem, w którym ludzie chętnie wypożyczali rowery na nawet średnio13 minut.</a:t>
            </a:r>
            <a:endParaRPr lang="pl-PL">
              <a:solidFill>
                <a:srgbClr val="FFFFFF"/>
              </a:solidFill>
              <a:latin typeface="Gill Sans MT"/>
            </a:endParaRP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endParaRPr lang="pl-PL">
              <a:solidFill>
                <a:srgbClr val="FFFFFF"/>
              </a:solidFill>
              <a:latin typeface="Gill Sans MT"/>
            </a:endParaRPr>
          </a:p>
          <a:p>
            <a:endParaRPr lang="pl-PL"/>
          </a:p>
        </p:txBody>
      </p:sp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EEA947F5-DD66-4D26-BA34-D1D8F7CE901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15900" indent="-215900" rtl="0"/>
            <a:endParaRPr lang="pl-PL">
              <a:cs typeface="Segoe UI Light"/>
            </a:endParaRPr>
          </a:p>
          <a:p>
            <a:pPr marL="215900" indent="-215900" rtl="0"/>
            <a:endParaRPr lang="pl-PL">
              <a:cs typeface="Segoe UI Light"/>
            </a:endParaRPr>
          </a:p>
        </p:txBody>
      </p:sp>
      <p:pic>
        <p:nvPicPr>
          <p:cNvPr id="13" name="Obraz — symbol zastępczy 12" descr="Abstrakcyjne tło">
            <a:extLst>
              <a:ext uri="{FF2B5EF4-FFF2-40B4-BE49-F238E27FC236}">
                <a16:creationId xmlns:a16="http://schemas.microsoft.com/office/drawing/2014/main" id="{0B7AE772-6658-4E84-8EAA-F33DEF1CDE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B9E0CB5-2F64-4439-AFE9-1BB3ACE6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smtClean="0"/>
              <a:t>5</a:t>
            </a:fld>
            <a:endParaRPr lang="pl-PL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BA396AE-BE46-43FB-B4E7-224D2AF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pic>
        <p:nvPicPr>
          <p:cNvPr id="7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5F9AAE58-3593-B7E1-A9AF-6A4F01C6E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329" y="1669448"/>
            <a:ext cx="4856842" cy="31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0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CAA634A5-7FE6-42E8-939A-FEBD8260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7591"/>
            <a:ext cx="5759302" cy="1149024"/>
          </a:xfrm>
        </p:spPr>
        <p:txBody>
          <a:bodyPr rtlCol="0">
            <a:normAutofit/>
          </a:bodyPr>
          <a:lstStyle/>
          <a:p>
            <a:r>
              <a:rPr lang="pl-PL"/>
              <a:t>PYTANIE DODATKOWE</a:t>
            </a:r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F7F2EF20-4914-4F8B-9D4E-F7DF9977D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algn="ctr"/>
            <a:r>
              <a:rPr lang="pl-PL">
                <a:ea typeface="+mn-lt"/>
                <a:cs typeface="+mn-lt"/>
              </a:rPr>
              <a:t>JAK PORA ROKU (MIESIĄC W ROKU) WPŁYWA NA DŁUGOŚĆ WYPOŻYCZENIA ROWERU MIEJSKIEGO?</a:t>
            </a:r>
            <a:endParaRPr lang="pl-PL" b="0">
              <a:ea typeface="+mn-lt"/>
              <a:cs typeface="+mn-lt"/>
            </a:endParaRPr>
          </a:p>
          <a:p>
            <a:endParaRPr lang="pl-PL"/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8E71FA33-E828-4801-B104-D9EE37E432DE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777421" y="1326863"/>
            <a:ext cx="4820732" cy="664799"/>
          </a:xfrm>
        </p:spPr>
        <p:txBody>
          <a:bodyPr rtlCol="0">
            <a:normAutofit/>
          </a:bodyPr>
          <a:lstStyle/>
          <a:p>
            <a:pPr algn="ctr"/>
            <a:r>
              <a:rPr lang="pl-PL"/>
              <a:t>WYKRES MIESIAC VS DŁUGOŚĆ WYPOŻYCZENIA ROWERU</a:t>
            </a:r>
            <a:endParaRPr lang="en-US"/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FCE7D97E-00B7-4F79-BFF8-2D7EDFAE5F0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055283" y="2426320"/>
            <a:ext cx="2915732" cy="360000"/>
          </a:xfrm>
        </p:spPr>
        <p:txBody>
          <a:bodyPr rtlCol="0"/>
          <a:lstStyle/>
          <a:p>
            <a:r>
              <a:rPr lang="pl-PL"/>
              <a:t>WNIOSKI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80D2D95B-77BF-49F5-AFBD-07FDD7C43B82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066169" y="2921867"/>
            <a:ext cx="5333017" cy="2662503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spcBef>
                <a:spcPts val="0"/>
              </a:spcBef>
              <a:buFont typeface="Arial,Sans-Serif" panose="02070309020205020404" pitchFamily="49" charset="0"/>
              <a:buChar char="•"/>
            </a:pPr>
            <a:r>
              <a:rPr lang="pl-PL" sz="1800" b="1">
                <a:solidFill>
                  <a:srgbClr val="FFFFFF"/>
                </a:solidFill>
                <a:latin typeface="Gill Sans MT"/>
                <a:ea typeface="+mn-lt"/>
                <a:cs typeface="+mn-lt"/>
              </a:rPr>
              <a:t>Wykres przedstawia średni czas wypożyczenia roweru na przestrzeni roku 2017 w Jersey City. </a:t>
            </a:r>
          </a:p>
          <a:p>
            <a:pPr marL="285750" indent="-285750">
              <a:spcBef>
                <a:spcPts val="0"/>
              </a:spcBef>
              <a:buFont typeface="Arial,Sans-Serif" panose="02070309020205020404" pitchFamily="49" charset="0"/>
              <a:buChar char="•"/>
            </a:pPr>
            <a:r>
              <a:rPr lang="pl-PL" sz="1800" b="1">
                <a:solidFill>
                  <a:srgbClr val="FFFFFF"/>
                </a:solidFill>
                <a:latin typeface="Gill Sans MT"/>
                <a:ea typeface="+mn-lt"/>
                <a:cs typeface="+mn-lt"/>
              </a:rPr>
              <a:t>Najdłużej ludzie jeździli w miesiącach letnich (maj, czerwiec, sierpień). Przykładowo dla maja było to aż 16 minut.</a:t>
            </a:r>
          </a:p>
          <a:p>
            <a:pPr marL="285750" indent="-285750">
              <a:spcBef>
                <a:spcPts val="0"/>
              </a:spcBef>
              <a:buFont typeface="Arial,Sans-Serif" panose="02070309020205020404" pitchFamily="49" charset="0"/>
              <a:buChar char="•"/>
            </a:pPr>
            <a:r>
              <a:rPr lang="pl-PL" sz="1800" b="1">
                <a:solidFill>
                  <a:srgbClr val="FFFFFF"/>
                </a:solidFill>
                <a:latin typeface="Gill Sans MT"/>
                <a:cs typeface="Segoe UI Light"/>
              </a:rPr>
              <a:t>Najkrócej korzystali z roweru podczas zimowych miesięcy, co jest dość intuicyjne i przewidywalne. Dla grudnia średnia ta wynosiła tylko 7 minut.</a:t>
            </a:r>
          </a:p>
          <a:p>
            <a:pPr marL="0" indent="0">
              <a:spcBef>
                <a:spcPts val="0"/>
              </a:spcBef>
              <a:buNone/>
            </a:pPr>
            <a:endParaRPr lang="pl-PL" sz="1800" b="1">
              <a:solidFill>
                <a:srgbClr val="FFFFFF"/>
              </a:solidFill>
              <a:latin typeface="Gill Sans MT"/>
              <a:cs typeface="Segoe UI Light"/>
            </a:endParaRPr>
          </a:p>
          <a:p>
            <a:pPr marL="215900" indent="-215900">
              <a:spcBef>
                <a:spcPts val="1000"/>
              </a:spcBef>
            </a:pPr>
            <a:endParaRPr lang="pl-PL" sz="1800">
              <a:cs typeface="Segoe UI Light"/>
            </a:endParaRPr>
          </a:p>
          <a:p>
            <a:pPr marL="215900" indent="-215900"/>
            <a:endParaRPr lang="pl-PL" sz="1800">
              <a:cs typeface="Segoe UI Light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670F84A1-DCA9-4894-82EA-A83237AC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smtClean="0"/>
              <a:t>6</a:t>
            </a:fld>
            <a:endParaRPr lang="pl-PL"/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375E9DB8-C5FF-491C-87D4-2A6ED291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/>
              <a:t>DODAJ STOPKĘ</a:t>
            </a:r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FC52B98C-5C1E-46B1-B54D-F830C622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pic>
        <p:nvPicPr>
          <p:cNvPr id="8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F7BF5900-CD69-E714-B5E2-768CE55430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1" t="1775" r="1066" b="296"/>
          <a:stretch/>
        </p:blipFill>
        <p:spPr>
          <a:xfrm>
            <a:off x="635620" y="2265863"/>
            <a:ext cx="5103500" cy="306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107" y="696584"/>
            <a:ext cx="6639760" cy="569086"/>
          </a:xfrm>
        </p:spPr>
        <p:txBody>
          <a:bodyPr rtlCol="0">
            <a:normAutofit/>
          </a:bodyPr>
          <a:lstStyle/>
          <a:p>
            <a:r>
              <a:rPr lang="pl-PL" dirty="0">
                <a:ea typeface="+mj-lt"/>
                <a:cs typeface="+mj-lt"/>
              </a:rPr>
              <a:t>PYTANIE BADAWCZE 1I</a:t>
            </a:r>
            <a:endParaRPr lang="en-US" dirty="0"/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624" y="1983086"/>
            <a:ext cx="9506453" cy="56908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pl-PL" sz="2800" dirty="0">
                <a:cs typeface="Segoe UI Semibold"/>
              </a:rPr>
              <a:t>CZY PORA ROKU MA WPŁYW NA PROPORCJE MĘŻCZYZN I KOBIET PODRÓŻUJĄCYCH ROWERAMI?</a:t>
            </a:r>
            <a:endParaRPr lang="pl-PL" sz="2800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pPr rtl="0"/>
              <a:t>7</a:t>
            </a:fld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8F3174-1225-78CD-8CD8-E152A9DC3142}"/>
              </a:ext>
            </a:extLst>
          </p:cNvPr>
          <p:cNvSpPr txBox="1"/>
          <p:nvPr/>
        </p:nvSpPr>
        <p:spPr>
          <a:xfrm>
            <a:off x="2538663" y="3481137"/>
            <a:ext cx="4056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cs typeface="Segoe U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344FD-3238-9A43-1DD3-4DDEDEFC7270}"/>
              </a:ext>
            </a:extLst>
          </p:cNvPr>
          <p:cNvSpPr txBox="1"/>
          <p:nvPr/>
        </p:nvSpPr>
        <p:spPr>
          <a:xfrm>
            <a:off x="2538663" y="3060032"/>
            <a:ext cx="4588042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800" b="1" dirty="0">
                <a:solidFill>
                  <a:srgbClr val="FFFFFF"/>
                </a:solidFill>
                <a:latin typeface="Gill Sans MT"/>
                <a:ea typeface="+mn-lt"/>
                <a:cs typeface="+mn-lt"/>
              </a:rPr>
              <a:t>Przewidywany wynik analizy:</a:t>
            </a:r>
          </a:p>
          <a:p>
            <a:pPr marL="285750" indent="-285750">
              <a:buFont typeface="Arial"/>
              <a:buChar char="•"/>
            </a:pPr>
            <a:r>
              <a:rPr lang="pl-PL" sz="2400" b="1" dirty="0">
                <a:solidFill>
                  <a:srgbClr val="FFFFFF"/>
                </a:solidFill>
                <a:latin typeface="Gill Sans MT"/>
                <a:cs typeface="Segoe UI Light"/>
              </a:rPr>
              <a:t>Procentowy wzrost ilości kobiet latem oraz wiosną</a:t>
            </a:r>
          </a:p>
          <a:p>
            <a:endParaRPr lang="pl-PL" sz="2800" b="1">
              <a:solidFill>
                <a:srgbClr val="FFFFFF"/>
              </a:solidFill>
              <a:latin typeface="Gill Sans MT"/>
              <a:cs typeface="Segoe U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66495-5549-6560-6475-77D127D55F71}"/>
              </a:ext>
            </a:extLst>
          </p:cNvPr>
          <p:cNvSpPr txBox="1"/>
          <p:nvPr/>
        </p:nvSpPr>
        <p:spPr>
          <a:xfrm>
            <a:off x="2538663" y="363153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l-PL">
              <a:solidFill>
                <a:srgbClr val="999999"/>
              </a:solidFill>
              <a:cs typeface="Segoe UI Light"/>
            </a:endParaRPr>
          </a:p>
        </p:txBody>
      </p:sp>
      <p:pic>
        <p:nvPicPr>
          <p:cNvPr id="12" name="Graphic 12" descr="Upward trend with solid fill">
            <a:extLst>
              <a:ext uri="{FF2B5EF4-FFF2-40B4-BE49-F238E27FC236}">
                <a16:creationId xmlns:a16="http://schemas.microsoft.com/office/drawing/2014/main" id="{C6911E14-64B9-2B12-596A-12A89BBAC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565" y="2792508"/>
            <a:ext cx="2404781" cy="23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2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ytuł 66">
            <a:extLst>
              <a:ext uri="{FF2B5EF4-FFF2-40B4-BE49-F238E27FC236}">
                <a16:creationId xmlns:a16="http://schemas.microsoft.com/office/drawing/2014/main" id="{E72CC338-4598-4AF3-B140-D7F632D2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317" y="127591"/>
            <a:ext cx="5242334" cy="1149024"/>
          </a:xfrm>
        </p:spPr>
        <p:txBody>
          <a:bodyPr rtlCol="0">
            <a:normAutofit/>
          </a:bodyPr>
          <a:lstStyle/>
          <a:p>
            <a:r>
              <a:rPr lang="pl-PL" dirty="0"/>
              <a:t>PRZEPROWADZENIE ANALIZY II</a:t>
            </a:r>
          </a:p>
        </p:txBody>
      </p:sp>
      <p:sp>
        <p:nvSpPr>
          <p:cNvPr id="68" name="Tekst — symbol zastępczy 67">
            <a:extLst>
              <a:ext uri="{FF2B5EF4-FFF2-40B4-BE49-F238E27FC236}">
                <a16:creationId xmlns:a16="http://schemas.microsoft.com/office/drawing/2014/main" id="{1411656D-4971-4CC0-9065-8DA32BB8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pl-PL" dirty="0">
                <a:cs typeface="Segoe UI Semibold"/>
              </a:rPr>
              <a:t>PRZEPROWADZENIE ANALIZY NA DANYCH Z JERSEY CITY Z 2017 ROKU</a:t>
            </a:r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D3581DBA-A3EE-4E75-90A6-DC25DF9D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pPr rtl="0"/>
              <a:t>8</a:t>
            </a:fld>
            <a:endParaRPr lang="pl-PL" dirty="0"/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8B2EEAA2-E066-4E86-A51B-FAC33331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pic>
        <p:nvPicPr>
          <p:cNvPr id="6" name="Obraz 6">
            <a:extLst>
              <a:ext uri="{FF2B5EF4-FFF2-40B4-BE49-F238E27FC236}">
                <a16:creationId xmlns:a16="http://schemas.microsoft.com/office/drawing/2014/main" id="{56585779-C9E0-81B5-9DE6-FBA977F22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190069"/>
            <a:ext cx="5115790" cy="310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7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69" y="696584"/>
            <a:ext cx="5259667" cy="569086"/>
          </a:xfrm>
        </p:spPr>
        <p:txBody>
          <a:bodyPr rtlCol="0">
            <a:normAutofit/>
          </a:bodyPr>
          <a:lstStyle/>
          <a:p>
            <a:r>
              <a:rPr lang="pl-PL" dirty="0"/>
              <a:t>ANALIZA II</a:t>
            </a:r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2" y="1642391"/>
            <a:ext cx="12191999" cy="3493008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9660" y="1882823"/>
            <a:ext cx="3215942" cy="3256995"/>
          </a:xfrm>
        </p:spPr>
        <p:txBody>
          <a:bodyPr vert="horz" lIns="0" tIns="0" rIns="0" bIns="0" rtlCol="0" anchor="t">
            <a:normAutofit/>
          </a:bodyPr>
          <a:lstStyle/>
          <a:p>
            <a:pPr algn="r"/>
            <a:r>
              <a:rPr lang="pl-PL" sz="2800" dirty="0">
                <a:ea typeface="+mn-lt"/>
                <a:cs typeface="+mn-lt"/>
              </a:rPr>
              <a:t>ZBADANIE PROPORCJI W POSZCZEGÓLNYCH PORACH ROKU</a:t>
            </a:r>
            <a:endParaRPr lang="en-GB" sz="2800" b="0" dirty="0">
              <a:ea typeface="+mn-lt"/>
              <a:cs typeface="+mn-lt"/>
            </a:endParaRPr>
          </a:p>
          <a:p>
            <a:endParaRPr lang="en-GB" sz="2800" b="0">
              <a:cs typeface="Segoe UI Light"/>
            </a:endParaRP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pPr rtl="0"/>
              <a:t>9</a:t>
            </a:fld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F5B4D-9B68-4F70-4833-33620D745A46}"/>
              </a:ext>
            </a:extLst>
          </p:cNvPr>
          <p:cNvSpPr txBox="1"/>
          <p:nvPr/>
        </p:nvSpPr>
        <p:spPr>
          <a:xfrm>
            <a:off x="9306427" y="1646321"/>
            <a:ext cx="28788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l-PL">
              <a:solidFill>
                <a:srgbClr val="999999"/>
              </a:solidFill>
              <a:cs typeface="Segoe UI Light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3FA63E8-1F1E-319D-6D76-8FC2103B9EA3}"/>
              </a:ext>
            </a:extLst>
          </p:cNvPr>
          <p:cNvSpPr txBox="1"/>
          <p:nvPr/>
        </p:nvSpPr>
        <p:spPr>
          <a:xfrm>
            <a:off x="4867275" y="334327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>
              <a:cs typeface="Segoe UI Light"/>
            </a:endParaRPr>
          </a:p>
        </p:txBody>
      </p:sp>
      <p:pic>
        <p:nvPicPr>
          <p:cNvPr id="26" name="Obraz 26">
            <a:extLst>
              <a:ext uri="{FF2B5EF4-FFF2-40B4-BE49-F238E27FC236}">
                <a16:creationId xmlns:a16="http://schemas.microsoft.com/office/drawing/2014/main" id="{4DB17520-897F-E68E-63A6-046DDE8C7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702" y="2096798"/>
            <a:ext cx="3690505" cy="2759653"/>
          </a:xfrm>
          <a:prstGeom prst="rect">
            <a:avLst/>
          </a:prstGeom>
        </p:spPr>
      </p:pic>
      <p:pic>
        <p:nvPicPr>
          <p:cNvPr id="27" name="Obraz 27">
            <a:extLst>
              <a:ext uri="{FF2B5EF4-FFF2-40B4-BE49-F238E27FC236}">
                <a16:creationId xmlns:a16="http://schemas.microsoft.com/office/drawing/2014/main" id="{C6B1DC55-7EB0-A8BB-AC25-BA8737AAF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748" y="2092469"/>
            <a:ext cx="4158096" cy="276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6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69" y="696584"/>
            <a:ext cx="5259667" cy="569086"/>
          </a:xfrm>
        </p:spPr>
        <p:txBody>
          <a:bodyPr rtlCol="0">
            <a:normAutofit/>
          </a:bodyPr>
          <a:lstStyle/>
          <a:p>
            <a:r>
              <a:rPr lang="pl-PL" dirty="0"/>
              <a:t>ANALIZA II</a:t>
            </a:r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2" y="1642391"/>
            <a:ext cx="12191999" cy="3493008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9660" y="1882823"/>
            <a:ext cx="3215942" cy="3256995"/>
          </a:xfrm>
        </p:spPr>
        <p:txBody>
          <a:bodyPr vert="horz" lIns="0" tIns="0" rIns="0" bIns="0" rtlCol="0" anchor="t">
            <a:normAutofit/>
          </a:bodyPr>
          <a:lstStyle/>
          <a:p>
            <a:pPr algn="r"/>
            <a:r>
              <a:rPr lang="pl-PL" sz="2800" dirty="0">
                <a:ea typeface="+mn-lt"/>
                <a:cs typeface="+mn-lt"/>
              </a:rPr>
              <a:t>ZBADANIE PROPORCJI W POSZCZEGÓLNYCH PORACH ROKU</a:t>
            </a:r>
            <a:endParaRPr lang="en-GB" sz="2800" b="0" dirty="0">
              <a:ea typeface="+mn-lt"/>
              <a:cs typeface="+mn-lt"/>
            </a:endParaRPr>
          </a:p>
          <a:p>
            <a:endParaRPr lang="en-GB" sz="2800" b="0">
              <a:cs typeface="Segoe UI Light"/>
            </a:endParaRP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pPr rtl="0"/>
              <a:t>10</a:t>
            </a:fld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F5B4D-9B68-4F70-4833-33620D745A46}"/>
              </a:ext>
            </a:extLst>
          </p:cNvPr>
          <p:cNvSpPr txBox="1"/>
          <p:nvPr/>
        </p:nvSpPr>
        <p:spPr>
          <a:xfrm>
            <a:off x="9306427" y="1646321"/>
            <a:ext cx="28788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l-PL">
              <a:solidFill>
                <a:srgbClr val="999999"/>
              </a:solidFill>
              <a:cs typeface="Segoe UI Light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3FA63E8-1F1E-319D-6D76-8FC2103B9EA3}"/>
              </a:ext>
            </a:extLst>
          </p:cNvPr>
          <p:cNvSpPr txBox="1"/>
          <p:nvPr/>
        </p:nvSpPr>
        <p:spPr>
          <a:xfrm>
            <a:off x="4867275" y="334327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>
              <a:cs typeface="Segoe UI Light"/>
            </a:endParaRPr>
          </a:p>
        </p:txBody>
      </p:sp>
      <p:pic>
        <p:nvPicPr>
          <p:cNvPr id="7" name="Obraz 7">
            <a:extLst>
              <a:ext uri="{FF2B5EF4-FFF2-40B4-BE49-F238E27FC236}">
                <a16:creationId xmlns:a16="http://schemas.microsoft.com/office/drawing/2014/main" id="{431C7722-D677-67BA-569E-F66A0AF7C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543" y="1930977"/>
            <a:ext cx="3915641" cy="2857501"/>
          </a:xfrm>
          <a:prstGeom prst="rect">
            <a:avLst/>
          </a:prstGeom>
        </p:spPr>
      </p:pic>
      <p:pic>
        <p:nvPicPr>
          <p:cNvPr id="8" name="Obraz 8">
            <a:extLst>
              <a:ext uri="{FF2B5EF4-FFF2-40B4-BE49-F238E27FC236}">
                <a16:creationId xmlns:a16="http://schemas.microsoft.com/office/drawing/2014/main" id="{8EFB71BE-6A69-C341-ADE3-4DB488812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225" y="1932276"/>
            <a:ext cx="4192733" cy="285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7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9E676396-C21D-4B70-9D79-1F2D37C2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l-PL" dirty="0"/>
              <a:t>WIĘKSZA ANALIZA II</a:t>
            </a:r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576CF779-081B-4E72-A319-7C38F36A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pl-PL" dirty="0">
                <a:cs typeface="Segoe UI Semibold"/>
              </a:rPr>
              <a:t>W WYNIKU BRAKU ZADOWOLENIA Z REZULTATÓW PIERWSZEJ ANALIZY, ZBADAMY DANE Z 3 LAT TJ. 2017, 2018, 2019 W JERSEY CITY.</a:t>
            </a:r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F259A383-0866-4407-8C26-55CD13DC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t>11</a:t>
            </a:fld>
            <a:endParaRPr lang="pl-PL" dirty="0"/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63F6BAA2-E4F1-4057-8037-B984D995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pic>
        <p:nvPicPr>
          <p:cNvPr id="7" name="Obraz 7">
            <a:extLst>
              <a:ext uri="{FF2B5EF4-FFF2-40B4-BE49-F238E27FC236}">
                <a16:creationId xmlns:a16="http://schemas.microsoft.com/office/drawing/2014/main" id="{4ED8CF9F-C199-B3CB-E168-B7EBDE6B0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68" y="2530448"/>
            <a:ext cx="5262996" cy="332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31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69" y="696584"/>
            <a:ext cx="5259667" cy="569086"/>
          </a:xfrm>
        </p:spPr>
        <p:txBody>
          <a:bodyPr rtlCol="0">
            <a:normAutofit/>
          </a:bodyPr>
          <a:lstStyle/>
          <a:p>
            <a:r>
              <a:rPr lang="pl-PL"/>
              <a:t>WIĘKSZA ANALIZA II</a:t>
            </a:r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2" y="1642391"/>
            <a:ext cx="12191999" cy="3493008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9978" y="1467186"/>
            <a:ext cx="8974238" cy="65926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l-PL" sz="2000" dirty="0">
                <a:ea typeface="+mn-lt"/>
                <a:cs typeface="+mn-lt"/>
              </a:rPr>
              <a:t>ZBADANIE PROPORCJI W POSZCZEGÓLNYCH PORACH ROKU NA PRZESTRZENI 3 LAT</a:t>
            </a:r>
            <a:endParaRPr lang="en-GB" sz="2000" b="0" dirty="0">
              <a:ea typeface="+mn-lt"/>
              <a:cs typeface="+mn-lt"/>
            </a:endParaRPr>
          </a:p>
          <a:p>
            <a:endParaRPr lang="en-GB" sz="2000" b="0">
              <a:cs typeface="Segoe UI Light"/>
            </a:endParaRP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pPr rtl="0"/>
              <a:t>12</a:t>
            </a:fld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F5B4D-9B68-4F70-4833-33620D745A46}"/>
              </a:ext>
            </a:extLst>
          </p:cNvPr>
          <p:cNvSpPr txBox="1"/>
          <p:nvPr/>
        </p:nvSpPr>
        <p:spPr>
          <a:xfrm>
            <a:off x="9306427" y="1646321"/>
            <a:ext cx="28788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l-PL">
              <a:solidFill>
                <a:srgbClr val="999999"/>
              </a:solidFill>
              <a:cs typeface="Segoe UI Light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3FA63E8-1F1E-319D-6D76-8FC2103B9EA3}"/>
              </a:ext>
            </a:extLst>
          </p:cNvPr>
          <p:cNvSpPr txBox="1"/>
          <p:nvPr/>
        </p:nvSpPr>
        <p:spPr>
          <a:xfrm>
            <a:off x="4867275" y="334327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>
              <a:cs typeface="Segoe UI Light"/>
            </a:endParaRPr>
          </a:p>
        </p:txBody>
      </p:sp>
      <p:pic>
        <p:nvPicPr>
          <p:cNvPr id="7" name="Obraz 7">
            <a:extLst>
              <a:ext uri="{FF2B5EF4-FFF2-40B4-BE49-F238E27FC236}">
                <a16:creationId xmlns:a16="http://schemas.microsoft.com/office/drawing/2014/main" id="{B7313FC3-E23C-6BA4-FC16-AB3EFB2DD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090" y="2132302"/>
            <a:ext cx="4139911" cy="2991715"/>
          </a:xfrm>
          <a:prstGeom prst="rect">
            <a:avLst/>
          </a:prstGeom>
        </p:spPr>
      </p:pic>
      <p:pic>
        <p:nvPicPr>
          <p:cNvPr id="8" name="Obraz 8">
            <a:extLst>
              <a:ext uri="{FF2B5EF4-FFF2-40B4-BE49-F238E27FC236}">
                <a16:creationId xmlns:a16="http://schemas.microsoft.com/office/drawing/2014/main" id="{C1E0F842-D474-8929-2022-676ED765A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068" y="2135764"/>
            <a:ext cx="4305300" cy="300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67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69" y="696584"/>
            <a:ext cx="5259667" cy="569086"/>
          </a:xfrm>
        </p:spPr>
        <p:txBody>
          <a:bodyPr rtlCol="0">
            <a:normAutofit/>
          </a:bodyPr>
          <a:lstStyle/>
          <a:p>
            <a:r>
              <a:rPr lang="pl-PL" dirty="0"/>
              <a:t>WIĘKSZA ANALIZA II</a:t>
            </a:r>
          </a:p>
        </p:txBody>
      </p:sp>
      <p:pic>
        <p:nvPicPr>
          <p:cNvPr id="22" name="Obraz — symbol zastępczy 21" descr="Abstrakcyjne tło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2" y="1642391"/>
            <a:ext cx="12191999" cy="3493008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9978" y="1467186"/>
            <a:ext cx="8974238" cy="65926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pl-PL" sz="2000" dirty="0">
                <a:ea typeface="+mn-lt"/>
                <a:cs typeface="+mn-lt"/>
              </a:rPr>
              <a:t>ZBADANIE PROPORCJI W POSZCZEGÓLNYCH PORACH ROKU NA PRZESTRZENI 3 LAT</a:t>
            </a:r>
            <a:endParaRPr lang="en-GB" sz="2000" b="0" dirty="0">
              <a:ea typeface="+mn-lt"/>
              <a:cs typeface="+mn-lt"/>
            </a:endParaRPr>
          </a:p>
          <a:p>
            <a:endParaRPr lang="en-GB" sz="2000" b="0">
              <a:cs typeface="Segoe UI Light"/>
            </a:endParaRP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pPr rtl="0"/>
              <a:t>13</a:t>
            </a:fld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F5B4D-9B68-4F70-4833-33620D745A46}"/>
              </a:ext>
            </a:extLst>
          </p:cNvPr>
          <p:cNvSpPr txBox="1"/>
          <p:nvPr/>
        </p:nvSpPr>
        <p:spPr>
          <a:xfrm>
            <a:off x="9306427" y="1646321"/>
            <a:ext cx="28788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l-PL">
              <a:solidFill>
                <a:srgbClr val="999999"/>
              </a:solidFill>
              <a:cs typeface="Segoe UI Light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3FA63E8-1F1E-319D-6D76-8FC2103B9EA3}"/>
              </a:ext>
            </a:extLst>
          </p:cNvPr>
          <p:cNvSpPr txBox="1"/>
          <p:nvPr/>
        </p:nvSpPr>
        <p:spPr>
          <a:xfrm>
            <a:off x="4867275" y="334327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>
              <a:cs typeface="Segoe UI Light"/>
            </a:endParaRPr>
          </a:p>
        </p:txBody>
      </p:sp>
      <p:pic>
        <p:nvPicPr>
          <p:cNvPr id="9" name="Obraz 9">
            <a:extLst>
              <a:ext uri="{FF2B5EF4-FFF2-40B4-BE49-F238E27FC236}">
                <a16:creationId xmlns:a16="http://schemas.microsoft.com/office/drawing/2014/main" id="{D093BB11-31D2-D9E2-0437-0A5F2F54A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81" y="2076450"/>
            <a:ext cx="4021282" cy="3060122"/>
          </a:xfrm>
          <a:prstGeom prst="rect">
            <a:avLst/>
          </a:prstGeom>
        </p:spPr>
      </p:pic>
      <p:pic>
        <p:nvPicPr>
          <p:cNvPr id="10" name="Obraz 11">
            <a:extLst>
              <a:ext uri="{FF2B5EF4-FFF2-40B4-BE49-F238E27FC236}">
                <a16:creationId xmlns:a16="http://schemas.microsoft.com/office/drawing/2014/main" id="{98444DC6-8F7C-7EFE-C46E-DCFDD8C54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521" y="2074285"/>
            <a:ext cx="4400551" cy="306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98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— symbol zastępczy 10" descr="Logo firmy">
            <a:extLst>
              <a:ext uri="{FF2B5EF4-FFF2-40B4-BE49-F238E27FC236}">
                <a16:creationId xmlns:a16="http://schemas.microsoft.com/office/drawing/2014/main" id="{F137CA39-CE16-4C0C-AFB5-324FE940E6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836197" y="859665"/>
            <a:ext cx="1070297" cy="548640"/>
          </a:xfr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34CB059-9E3B-4C24-8E61-717292C2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14" y="2091023"/>
            <a:ext cx="4745884" cy="804338"/>
          </a:xfrm>
        </p:spPr>
        <p:txBody>
          <a:bodyPr rtlCol="0">
            <a:normAutofit fontScale="90000"/>
          </a:bodyPr>
          <a:lstStyle/>
          <a:p>
            <a:pPr algn="ctr"/>
            <a:r>
              <a:rPr lang="pl-PL" dirty="0"/>
              <a:t>WNIOSKI Z ANALIZY II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E66139D5-668D-4A3D-B6B6-F71EC385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5911" y="3244567"/>
            <a:ext cx="4444883" cy="2375253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endParaRPr lang="pl-PL">
              <a:solidFill>
                <a:srgbClr val="FFFFFF"/>
              </a:solidFill>
              <a:latin typeface="Gill Sans MT"/>
            </a:endParaRP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endParaRPr lang="pl-PL">
              <a:solidFill>
                <a:srgbClr val="FFFFFF"/>
              </a:solidFill>
              <a:latin typeface="Gill Sans MT"/>
            </a:endParaRPr>
          </a:p>
          <a:p>
            <a:endParaRPr lang="pl-PL"/>
          </a:p>
        </p:txBody>
      </p:sp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EEA947F5-DD66-4D26-BA34-D1D8F7CE901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15720" y="3237236"/>
            <a:ext cx="4461646" cy="1960443"/>
          </a:xfrm>
        </p:spPr>
        <p:txBody>
          <a:bodyPr vert="horz" lIns="0" tIns="0" rIns="0" bIns="0" rtlCol="0" anchor="t">
            <a:normAutofit/>
          </a:bodyPr>
          <a:lstStyle/>
          <a:p>
            <a:pPr marL="215900" indent="-215900" rtl="0"/>
            <a:endParaRPr lang="pl-PL">
              <a:cs typeface="Segoe UI Light"/>
            </a:endParaRPr>
          </a:p>
          <a:p>
            <a:pPr marL="215900" indent="-215900" rtl="0"/>
            <a:endParaRPr lang="pl-PL">
              <a:cs typeface="Segoe UI Light"/>
            </a:endParaRPr>
          </a:p>
        </p:txBody>
      </p:sp>
      <p:pic>
        <p:nvPicPr>
          <p:cNvPr id="13" name="Obraz — symbol zastępczy 12" descr="Abstrakcyjne tło">
            <a:extLst>
              <a:ext uri="{FF2B5EF4-FFF2-40B4-BE49-F238E27FC236}">
                <a16:creationId xmlns:a16="http://schemas.microsoft.com/office/drawing/2014/main" id="{0B7AE772-6658-4E84-8EAA-F33DEF1CDE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B9E0CB5-2F64-4439-AFE9-1BB3ACE6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pl-PL" dirty="0" smtClean="0"/>
              <a:t>14</a:t>
            </a:fld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BA396AE-BE46-43FB-B4E7-224D2AF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20XX.MM.DD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093EBED-B60B-5508-9CB0-F0B4D50FC889}"/>
              </a:ext>
            </a:extLst>
          </p:cNvPr>
          <p:cNvSpPr txBox="1"/>
          <p:nvPr/>
        </p:nvSpPr>
        <p:spPr>
          <a:xfrm>
            <a:off x="780184" y="3239366"/>
            <a:ext cx="386022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pl-PL" dirty="0">
                <a:cs typeface="Segoe UI Light"/>
              </a:rPr>
              <a:t>PORA ROKU MA (NIEWIELKI) WPŁYW NA PROPORCJE WYPOŻYCZEŃ ROWERÓW W ZALEŻNOŚCI OD PŁCI</a:t>
            </a:r>
            <a:endParaRPr lang="pl-PL"/>
          </a:p>
          <a:p>
            <a:pPr marL="342900" indent="-342900">
              <a:buAutoNum type="arabicPeriod"/>
            </a:pPr>
            <a:r>
              <a:rPr lang="pl-PL" dirty="0">
                <a:cs typeface="Segoe UI Light"/>
              </a:rPr>
              <a:t>WBREW OCZEKIWANIOM, TO LATO I JESIEŃ SĄ PORAMI ROKU, W KTÓRYCH PROCENT KOBIET JEŻDZĄCYCH NA ROWERACH ROŚNIE</a:t>
            </a:r>
          </a:p>
        </p:txBody>
      </p:sp>
      <p:pic>
        <p:nvPicPr>
          <p:cNvPr id="17" name="Obraz 17" descr="Obraz zawierający tekst&#10;&#10;Opis wygenerowany automatycznie">
            <a:extLst>
              <a:ext uri="{FF2B5EF4-FFF2-40B4-BE49-F238E27FC236}">
                <a16:creationId xmlns:a16="http://schemas.microsoft.com/office/drawing/2014/main" id="{A8336EF5-27B9-C133-83A9-83994DFB9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968" y="1674225"/>
            <a:ext cx="4856017" cy="3137209"/>
          </a:xfrm>
          <a:prstGeom prst="rect">
            <a:avLst/>
          </a:prstGeom>
        </p:spPr>
      </p:pic>
      <p:pic>
        <p:nvPicPr>
          <p:cNvPr id="20" name="Obraz 20">
            <a:extLst>
              <a:ext uri="{FF2B5EF4-FFF2-40B4-BE49-F238E27FC236}">
                <a16:creationId xmlns:a16="http://schemas.microsoft.com/office/drawing/2014/main" id="{BAE94617-1ECB-7287-5947-6C6A71A50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616" y="1674668"/>
            <a:ext cx="1762018" cy="313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685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56488565_Futuristic pitch deck_AAS_v4" id="{81C854B4-8588-4171-B50E-9B042741D072}" vid="{97BC3161-E59E-4E12-8009-4336211748C5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6F9C5E6-4E49-4D37-A97C-D10AFC636B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445468-C027-49FF-A590-A9B91A643A99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BE5D4C7-1729-492F-AAFB-3920AA1F42DC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TF56488565</Template>
  <TotalTime>0</TotalTime>
  <Words>515</Words>
  <Application>Microsoft Office PowerPoint</Application>
  <PresentationFormat>Widescreen</PresentationFormat>
  <Paragraphs>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Arial,Sans-Serif</vt:lpstr>
      <vt:lpstr>Calibri</vt:lpstr>
      <vt:lpstr>Courier New</vt:lpstr>
      <vt:lpstr>Gill Sans MT</vt:lpstr>
      <vt:lpstr>Segoe UI Light</vt:lpstr>
      <vt:lpstr>Motyw pakietu Office</vt:lpstr>
      <vt:lpstr>Analiza użytkowania rowerów w Jersey City</vt:lpstr>
      <vt:lpstr>PYTANIE BADAWCZE 1</vt:lpstr>
      <vt:lpstr>WYNIKI ANALIZY 1</vt:lpstr>
      <vt:lpstr>WYNIKI ANALIZY 1</vt:lpstr>
      <vt:lpstr>WNIOSKI Z ANALIZY I</vt:lpstr>
      <vt:lpstr>PYTANIE DODATKOWE</vt:lpstr>
      <vt:lpstr>PYTANIE BADAWCZE 1I</vt:lpstr>
      <vt:lpstr>PRZEPROWADZENIE ANALIZY II</vt:lpstr>
      <vt:lpstr>ANALIZA II</vt:lpstr>
      <vt:lpstr>ANALIZA II</vt:lpstr>
      <vt:lpstr>WIĘKSZA ANALIZA II</vt:lpstr>
      <vt:lpstr>WIĘKSZA ANALIZA II</vt:lpstr>
      <vt:lpstr>WIĘKSZA ANALIZA II</vt:lpstr>
      <vt:lpstr>WNIOSKI Z ANALIZY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OFERTOWA TYTUŁ</dc:title>
  <dc:creator/>
  <cp:lastModifiedBy>Mateusz Kubita</cp:lastModifiedBy>
  <cp:revision>110</cp:revision>
  <dcterms:created xsi:type="dcterms:W3CDTF">2022-05-29T17:31:45Z</dcterms:created>
  <dcterms:modified xsi:type="dcterms:W3CDTF">2022-06-22T12:29:00Z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